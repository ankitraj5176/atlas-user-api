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6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454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94560"/>
          </a:solidFill>
          <a:ln/>
        </p:spPr>
        <p:txBody>
          <a:bodyPr/>
          <a:lstStyle/>
          <a:p>
            <a:endParaRPr lang="en-IN"/>
          </a:p>
        </p:txBody>
      </p:sp>
      <p:sp>
        <p:nvSpPr>
          <p:cNvPr id="3" name="Shape 1"/>
          <p:cNvSpPr/>
          <p:nvPr/>
        </p:nvSpPr>
        <p:spPr>
          <a:xfrm>
            <a:off x="164592" y="0"/>
            <a:ext cx="8979408" cy="1280160"/>
          </a:xfrm>
          <a:prstGeom prst="rect">
            <a:avLst/>
          </a:prstGeom>
          <a:solidFill>
            <a:srgbClr val="0F3460"/>
          </a:solidFill>
          <a:ln/>
        </p:spPr>
        <p:txBody>
          <a:bodyPr/>
          <a:lstStyle/>
          <a:p>
            <a:endParaRPr lang="en-IN"/>
          </a:p>
        </p:txBody>
      </p:sp>
      <p:sp>
        <p:nvSpPr>
          <p:cNvPr id="4" name="Text 2"/>
          <p:cNvSpPr/>
          <p:nvPr/>
        </p:nvSpPr>
        <p:spPr>
          <a:xfrm>
            <a:off x="320040" y="45720"/>
            <a:ext cx="2743200" cy="457200"/>
          </a:xfrm>
          <a:prstGeom prst="rect">
            <a:avLst/>
          </a:prstGeom>
          <a:noFill/>
          <a:ln/>
        </p:spPr>
        <p:txBody>
          <a:bodyPr wrap="square" rtlCol="0" anchor="ctr"/>
          <a:lstStyle/>
          <a:p>
            <a:pPr marL="0" indent="0">
              <a:buNone/>
            </a:pPr>
            <a:r>
              <a:rPr lang="en-US" sz="1300" b="1" kern="0" spc="600" dirty="0">
                <a:solidFill>
                  <a:srgbClr val="E94560"/>
                </a:solidFill>
                <a:latin typeface="Calibri" pitchFamily="34" charset="0"/>
                <a:ea typeface="Calibri" pitchFamily="34" charset="-122"/>
                <a:cs typeface="Calibri" pitchFamily="34" charset="-120"/>
              </a:rPr>
              <a:t>QUIZ</a:t>
            </a:r>
            <a:endParaRPr lang="en-US" sz="1300" dirty="0"/>
          </a:p>
        </p:txBody>
      </p:sp>
      <p:sp>
        <p:nvSpPr>
          <p:cNvPr id="5" name="Text 3"/>
          <p:cNvSpPr/>
          <p:nvPr/>
        </p:nvSpPr>
        <p:spPr>
          <a:xfrm>
            <a:off x="320040" y="411480"/>
            <a:ext cx="8229600" cy="5943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NumPy &amp; Pandas</a:t>
            </a:r>
            <a:endParaRPr lang="en-US" sz="3200" dirty="0"/>
          </a:p>
        </p:txBody>
      </p:sp>
      <p:sp>
        <p:nvSpPr>
          <p:cNvPr id="6" name="Text 4"/>
          <p:cNvSpPr/>
          <p:nvPr/>
        </p:nvSpPr>
        <p:spPr>
          <a:xfrm>
            <a:off x="320040" y="960120"/>
            <a:ext cx="8229600" cy="320040"/>
          </a:xfrm>
          <a:prstGeom prst="rect">
            <a:avLst/>
          </a:prstGeom>
          <a:noFill/>
          <a:ln/>
        </p:spPr>
        <p:txBody>
          <a:bodyPr wrap="square" rtlCol="0" anchor="ctr"/>
          <a:lstStyle/>
          <a:p>
            <a:pPr marL="0" indent="0">
              <a:buNone/>
            </a:pPr>
            <a:r>
              <a:rPr lang="en-US" sz="1300" i="1" dirty="0">
                <a:solidFill>
                  <a:srgbClr val="A0AEC0"/>
                </a:solidFill>
                <a:latin typeface="Calibri" pitchFamily="34" charset="0"/>
                <a:ea typeface="Calibri" pitchFamily="34" charset="-122"/>
                <a:cs typeface="Calibri" pitchFamily="34" charset="-120"/>
              </a:rPr>
              <a:t>Python Data Science Series</a:t>
            </a:r>
            <a:endParaRPr lang="en-US" sz="1300" dirty="0"/>
          </a:p>
        </p:txBody>
      </p:sp>
      <p:sp>
        <p:nvSpPr>
          <p:cNvPr id="7" name="Text 5"/>
          <p:cNvSpPr/>
          <p:nvPr/>
        </p:nvSpPr>
        <p:spPr>
          <a:xfrm>
            <a:off x="457200" y="1508760"/>
            <a:ext cx="8229600" cy="320040"/>
          </a:xfrm>
          <a:prstGeom prst="rect">
            <a:avLst/>
          </a:prstGeom>
          <a:noFill/>
          <a:ln/>
        </p:spPr>
        <p:txBody>
          <a:bodyPr wrap="square" rtlCol="0" anchor="ctr"/>
          <a:lstStyle/>
          <a:p>
            <a:pPr marL="0" indent="0">
              <a:buNone/>
            </a:pPr>
            <a:r>
              <a:rPr lang="en-US" sz="1100" b="1" kern="0" spc="400" dirty="0">
                <a:solidFill>
                  <a:srgbClr val="E94560"/>
                </a:solidFill>
                <a:latin typeface="Calibri" pitchFamily="34" charset="0"/>
                <a:ea typeface="Calibri" pitchFamily="34" charset="-122"/>
                <a:cs typeface="Calibri" pitchFamily="34" charset="-120"/>
              </a:rPr>
              <a:t>STUDENT INFORMATION</a:t>
            </a:r>
            <a:endParaRPr lang="en-US" sz="1100" dirty="0"/>
          </a:p>
        </p:txBody>
      </p:sp>
      <p:sp>
        <p:nvSpPr>
          <p:cNvPr id="8" name="Text 6"/>
          <p:cNvSpPr/>
          <p:nvPr/>
        </p:nvSpPr>
        <p:spPr>
          <a:xfrm>
            <a:off x="457200" y="1920240"/>
            <a:ext cx="2743200" cy="256032"/>
          </a:xfrm>
          <a:prstGeom prst="rect">
            <a:avLst/>
          </a:prstGeom>
          <a:noFill/>
          <a:ln/>
        </p:spPr>
        <p:txBody>
          <a:bodyPr wrap="square" rtlCol="0" anchor="ctr"/>
          <a:lstStyle/>
          <a:p>
            <a:pPr marL="0" indent="0">
              <a:buNone/>
            </a:pPr>
            <a:r>
              <a:rPr lang="en-US" sz="900" b="1" kern="0" spc="300" dirty="0">
                <a:solidFill>
                  <a:srgbClr val="A0AEC0"/>
                </a:solidFill>
                <a:latin typeface="Calibri" pitchFamily="34" charset="0"/>
                <a:ea typeface="Calibri" pitchFamily="34" charset="-122"/>
                <a:cs typeface="Calibri" pitchFamily="34" charset="-120"/>
              </a:rPr>
              <a:t>FULL NAME</a:t>
            </a:r>
            <a:endParaRPr lang="en-US" sz="900" dirty="0"/>
          </a:p>
        </p:txBody>
      </p:sp>
      <p:sp>
        <p:nvSpPr>
          <p:cNvPr id="9" name="Shape 7"/>
          <p:cNvSpPr/>
          <p:nvPr/>
        </p:nvSpPr>
        <p:spPr>
          <a:xfrm>
            <a:off x="457200" y="2194560"/>
            <a:ext cx="8046720" cy="475488"/>
          </a:xfrm>
          <a:prstGeom prst="rect">
            <a:avLst/>
          </a:prstGeom>
          <a:solidFill>
            <a:srgbClr val="16213E"/>
          </a:solidFill>
          <a:ln w="19050">
            <a:solidFill>
              <a:srgbClr val="0F3460"/>
            </a:solidFill>
            <a:prstDash val="solid"/>
          </a:ln>
        </p:spPr>
        <p:txBody>
          <a:bodyPr/>
          <a:lstStyle/>
          <a:p>
            <a:r>
              <a:rPr lang="en-US" dirty="0">
                <a:solidFill>
                  <a:schemeClr val="bg1"/>
                </a:solidFill>
              </a:rPr>
              <a:t>Ankit Raj</a:t>
            </a:r>
            <a:endParaRPr lang="en-IN" dirty="0">
              <a:solidFill>
                <a:schemeClr val="bg1"/>
              </a:solidFill>
            </a:endParaRPr>
          </a:p>
        </p:txBody>
      </p:sp>
      <p:sp>
        <p:nvSpPr>
          <p:cNvPr id="10" name="Text 8"/>
          <p:cNvSpPr/>
          <p:nvPr/>
        </p:nvSpPr>
        <p:spPr>
          <a:xfrm>
            <a:off x="457200" y="2788920"/>
            <a:ext cx="2743200" cy="256032"/>
          </a:xfrm>
          <a:prstGeom prst="rect">
            <a:avLst/>
          </a:prstGeom>
          <a:noFill/>
          <a:ln/>
        </p:spPr>
        <p:txBody>
          <a:bodyPr wrap="square" rtlCol="0" anchor="ctr"/>
          <a:lstStyle/>
          <a:p>
            <a:pPr marL="0" indent="0">
              <a:buNone/>
            </a:pPr>
            <a:r>
              <a:rPr lang="en-US" sz="900" b="1" kern="0" spc="300" dirty="0">
                <a:solidFill>
                  <a:srgbClr val="A0AEC0"/>
                </a:solidFill>
                <a:latin typeface="Calibri" pitchFamily="34" charset="0"/>
                <a:ea typeface="Calibri" pitchFamily="34" charset="-122"/>
                <a:cs typeface="Calibri" pitchFamily="34" charset="-120"/>
              </a:rPr>
              <a:t>CLASS / SECTION</a:t>
            </a:r>
            <a:endParaRPr lang="en-US" sz="900" dirty="0"/>
          </a:p>
        </p:txBody>
      </p:sp>
      <p:sp>
        <p:nvSpPr>
          <p:cNvPr id="11" name="Shape 9"/>
          <p:cNvSpPr/>
          <p:nvPr/>
        </p:nvSpPr>
        <p:spPr>
          <a:xfrm>
            <a:off x="457200" y="3063240"/>
            <a:ext cx="8046720" cy="475488"/>
          </a:xfrm>
          <a:prstGeom prst="rect">
            <a:avLst/>
          </a:prstGeom>
          <a:solidFill>
            <a:srgbClr val="16213E"/>
          </a:solidFill>
          <a:ln w="19050">
            <a:solidFill>
              <a:srgbClr val="0F3460"/>
            </a:solidFill>
            <a:prstDash val="solid"/>
          </a:ln>
        </p:spPr>
        <p:txBody>
          <a:bodyPr/>
          <a:lstStyle/>
          <a:p>
            <a:r>
              <a:rPr lang="en-US" dirty="0">
                <a:solidFill>
                  <a:schemeClr val="bg1"/>
                </a:solidFill>
              </a:rPr>
              <a:t>Sogeti Batch/Capgemini</a:t>
            </a:r>
            <a:endParaRPr lang="en-IN" dirty="0">
              <a:solidFill>
                <a:schemeClr val="bg1"/>
              </a:solidFill>
            </a:endParaRPr>
          </a:p>
        </p:txBody>
      </p:sp>
      <p:sp>
        <p:nvSpPr>
          <p:cNvPr id="12" name="Text 10"/>
          <p:cNvSpPr/>
          <p:nvPr/>
        </p:nvSpPr>
        <p:spPr>
          <a:xfrm>
            <a:off x="457200" y="3657600"/>
            <a:ext cx="2743200" cy="256032"/>
          </a:xfrm>
          <a:prstGeom prst="rect">
            <a:avLst/>
          </a:prstGeom>
          <a:noFill/>
          <a:ln/>
        </p:spPr>
        <p:txBody>
          <a:bodyPr wrap="square" rtlCol="0" anchor="ctr"/>
          <a:lstStyle/>
          <a:p>
            <a:pPr marL="0" indent="0">
              <a:buNone/>
            </a:pPr>
            <a:r>
              <a:rPr lang="en-US" sz="900" b="1" kern="0" spc="300" dirty="0">
                <a:solidFill>
                  <a:srgbClr val="A0AEC0"/>
                </a:solidFill>
                <a:latin typeface="Calibri" pitchFamily="34" charset="0"/>
                <a:ea typeface="Calibri" pitchFamily="34" charset="-122"/>
                <a:cs typeface="Calibri" pitchFamily="34" charset="-120"/>
              </a:rPr>
              <a:t>ROLL NUMBER</a:t>
            </a:r>
            <a:endParaRPr lang="en-US" sz="900" dirty="0"/>
          </a:p>
        </p:txBody>
      </p:sp>
      <p:sp>
        <p:nvSpPr>
          <p:cNvPr id="13" name="Shape 11"/>
          <p:cNvSpPr/>
          <p:nvPr/>
        </p:nvSpPr>
        <p:spPr>
          <a:xfrm>
            <a:off x="457200" y="3931920"/>
            <a:ext cx="8046720" cy="475488"/>
          </a:xfrm>
          <a:prstGeom prst="rect">
            <a:avLst/>
          </a:prstGeom>
          <a:solidFill>
            <a:srgbClr val="16213E"/>
          </a:solidFill>
          <a:ln w="19050">
            <a:solidFill>
              <a:srgbClr val="0F3460"/>
            </a:solidFill>
            <a:prstDash val="solid"/>
          </a:ln>
        </p:spPr>
        <p:txBody>
          <a:bodyPr/>
          <a:lstStyle/>
          <a:p>
            <a:r>
              <a:rPr lang="en-US" dirty="0">
                <a:solidFill>
                  <a:schemeClr val="bg1"/>
                </a:solidFill>
              </a:rPr>
              <a:t>6411390</a:t>
            </a:r>
            <a:endParaRPr lang="en-IN" dirty="0">
              <a:solidFill>
                <a:schemeClr val="bg1"/>
              </a:solidFill>
            </a:endParaRPr>
          </a:p>
        </p:txBody>
      </p:sp>
      <p:sp>
        <p:nvSpPr>
          <p:cNvPr id="14" name="Shape 12"/>
          <p:cNvSpPr/>
          <p:nvPr/>
        </p:nvSpPr>
        <p:spPr>
          <a:xfrm>
            <a:off x="457200" y="4526280"/>
            <a:ext cx="3840480" cy="411480"/>
          </a:xfrm>
          <a:prstGeom prst="rect">
            <a:avLst/>
          </a:prstGeom>
          <a:solidFill>
            <a:srgbClr val="0F3460"/>
          </a:solidFill>
          <a:ln/>
        </p:spPr>
        <p:txBody>
          <a:bodyPr/>
          <a:lstStyle/>
          <a:p>
            <a:endParaRPr lang="en-IN"/>
          </a:p>
        </p:txBody>
      </p:sp>
      <p:sp>
        <p:nvSpPr>
          <p:cNvPr id="15" name="Text 13"/>
          <p:cNvSpPr/>
          <p:nvPr/>
        </p:nvSpPr>
        <p:spPr>
          <a:xfrm>
            <a:off x="594360" y="4544568"/>
            <a:ext cx="3657600" cy="347472"/>
          </a:xfrm>
          <a:prstGeom prst="rect">
            <a:avLst/>
          </a:prstGeom>
          <a:noFill/>
          <a:ln/>
        </p:spPr>
        <p:txBody>
          <a:bodyPr wrap="square" rtlCol="0" anchor="ctr"/>
          <a:lstStyle/>
          <a:p>
            <a:pPr marL="0" indent="0">
              <a:buNone/>
            </a:pPr>
            <a:r>
              <a:rPr lang="en-US" sz="1200" dirty="0">
                <a:solidFill>
                  <a:srgbClr val="F0F0F0"/>
                </a:solidFill>
                <a:latin typeface="Calibri" pitchFamily="34" charset="0"/>
                <a:ea typeface="Calibri" pitchFamily="34" charset="-122"/>
                <a:cs typeface="Calibri" pitchFamily="34" charset="-120"/>
              </a:rPr>
              <a:t>Date: 23-02-2026</a:t>
            </a:r>
            <a:endParaRPr lang="en-US" sz="1200" dirty="0"/>
          </a:p>
        </p:txBody>
      </p:sp>
      <p:sp>
        <p:nvSpPr>
          <p:cNvPr id="16" name="Shape 14"/>
          <p:cNvSpPr/>
          <p:nvPr/>
        </p:nvSpPr>
        <p:spPr>
          <a:xfrm>
            <a:off x="4754880" y="4526280"/>
            <a:ext cx="3749040" cy="411480"/>
          </a:xfrm>
          <a:prstGeom prst="rect">
            <a:avLst/>
          </a:prstGeom>
          <a:solidFill>
            <a:srgbClr val="0F3460"/>
          </a:solidFill>
          <a:ln/>
        </p:spPr>
        <p:txBody>
          <a:bodyPr/>
          <a:lstStyle/>
          <a:p>
            <a:endParaRPr lang="en-IN"/>
          </a:p>
        </p:txBody>
      </p:sp>
      <p:sp>
        <p:nvSpPr>
          <p:cNvPr id="17" name="Text 15"/>
          <p:cNvSpPr/>
          <p:nvPr/>
        </p:nvSpPr>
        <p:spPr>
          <a:xfrm>
            <a:off x="4892040" y="4544568"/>
            <a:ext cx="3474720" cy="347472"/>
          </a:xfrm>
          <a:prstGeom prst="rect">
            <a:avLst/>
          </a:prstGeom>
          <a:noFill/>
          <a:ln/>
        </p:spPr>
        <p:txBody>
          <a:bodyPr wrap="square" rtlCol="0" anchor="ctr"/>
          <a:lstStyle/>
          <a:p>
            <a:pPr marL="0" indent="0">
              <a:buNone/>
            </a:pPr>
            <a:r>
              <a:rPr lang="en-US" sz="1200" dirty="0">
                <a:solidFill>
                  <a:srgbClr val="F0F0F0"/>
                </a:solidFill>
                <a:latin typeface="Calibri" pitchFamily="34" charset="0"/>
                <a:ea typeface="Calibri" pitchFamily="34" charset="-122"/>
                <a:cs typeface="Calibri" pitchFamily="34" charset="-120"/>
              </a:rPr>
              <a:t>Total Marks: ____  /  30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1920240"/>
          </a:xfrm>
          <a:prstGeom prst="rect">
            <a:avLst/>
          </a:prstGeom>
          <a:solidFill>
            <a:srgbClr val="0F3460"/>
          </a:solidFill>
          <a:ln/>
        </p:spPr>
        <p:txBody>
          <a:bodyPr/>
          <a:lstStyle/>
          <a:p>
            <a:endParaRPr lang="en-IN"/>
          </a:p>
        </p:txBody>
      </p:sp>
      <p:sp>
        <p:nvSpPr>
          <p:cNvPr id="3" name="Shape 1"/>
          <p:cNvSpPr/>
          <p:nvPr/>
        </p:nvSpPr>
        <p:spPr>
          <a:xfrm>
            <a:off x="0" y="1645920"/>
            <a:ext cx="228600" cy="1920240"/>
          </a:xfrm>
          <a:prstGeom prst="rect">
            <a:avLst/>
          </a:prstGeom>
          <a:solidFill>
            <a:srgbClr val="E94560"/>
          </a:solidFill>
          <a:ln/>
        </p:spPr>
        <p:txBody>
          <a:bodyPr/>
          <a:lstStyle/>
          <a:p>
            <a:endParaRPr lang="en-IN"/>
          </a:p>
        </p:txBody>
      </p:sp>
      <p:sp>
        <p:nvSpPr>
          <p:cNvPr id="4" name="Text 2"/>
          <p:cNvSpPr/>
          <p:nvPr/>
        </p:nvSpPr>
        <p:spPr>
          <a:xfrm>
            <a:off x="457200" y="1737360"/>
            <a:ext cx="8229600" cy="365760"/>
          </a:xfrm>
          <a:prstGeom prst="rect">
            <a:avLst/>
          </a:prstGeom>
          <a:noFill/>
          <a:ln/>
        </p:spPr>
        <p:txBody>
          <a:bodyPr wrap="square" rtlCol="0" anchor="ctr"/>
          <a:lstStyle/>
          <a:p>
            <a:pPr marL="0" indent="0">
              <a:buNone/>
            </a:pPr>
            <a:r>
              <a:rPr lang="en-US" sz="1300" b="1" kern="0" spc="500" dirty="0">
                <a:solidFill>
                  <a:srgbClr val="E94560"/>
                </a:solidFill>
                <a:latin typeface="Calibri" pitchFamily="34" charset="0"/>
                <a:ea typeface="Calibri" pitchFamily="34" charset="-122"/>
                <a:cs typeface="Calibri" pitchFamily="34" charset="-120"/>
              </a:rPr>
              <a:t>SECTION 1</a:t>
            </a:r>
            <a:endParaRPr lang="en-US" sz="1300" dirty="0"/>
          </a:p>
        </p:txBody>
      </p:sp>
      <p:sp>
        <p:nvSpPr>
          <p:cNvPr id="5" name="Text 3"/>
          <p:cNvSpPr/>
          <p:nvPr/>
        </p:nvSpPr>
        <p:spPr>
          <a:xfrm>
            <a:off x="457200" y="2057400"/>
            <a:ext cx="8229600" cy="68580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NumPy Arrays &amp; Operations</a:t>
            </a:r>
            <a:endParaRPr lang="en-US" sz="3400" dirty="0"/>
          </a:p>
        </p:txBody>
      </p:sp>
      <p:sp>
        <p:nvSpPr>
          <p:cNvPr id="6" name="Text 4"/>
          <p:cNvSpPr/>
          <p:nvPr/>
        </p:nvSpPr>
        <p:spPr>
          <a:xfrm>
            <a:off x="457200" y="2743200"/>
            <a:ext cx="8229600" cy="365760"/>
          </a:xfrm>
          <a:prstGeom prst="rect">
            <a:avLst/>
          </a:prstGeom>
          <a:noFill/>
          <a:ln/>
        </p:spPr>
        <p:txBody>
          <a:bodyPr wrap="square" rtlCol="0" anchor="ctr"/>
          <a:lstStyle/>
          <a:p>
            <a:pPr marL="0" indent="0">
              <a:buNone/>
            </a:pPr>
            <a:r>
              <a:rPr lang="en-US" sz="1300" i="1" dirty="0">
                <a:solidFill>
                  <a:srgbClr val="A0AEC0"/>
                </a:solidFill>
                <a:latin typeface="Calibri" pitchFamily="34" charset="0"/>
                <a:ea typeface="Calibri" pitchFamily="34" charset="-122"/>
                <a:cs typeface="Calibri" pitchFamily="34" charset="-120"/>
              </a:rPr>
              <a:t>Questions 1–5  ·  Broadcasting, Indexing &amp; Numerical Computing</a:t>
            </a:r>
            <a:endParaRPr lang="en-US" sz="1300" dirty="0"/>
          </a:p>
        </p:txBody>
      </p:sp>
      <p:sp>
        <p:nvSpPr>
          <p:cNvPr id="7" name="Text 5"/>
          <p:cNvSpPr/>
          <p:nvPr/>
        </p:nvSpPr>
        <p:spPr>
          <a:xfrm>
            <a:off x="457200" y="4114800"/>
            <a:ext cx="4572000" cy="365760"/>
          </a:xfrm>
          <a:prstGeom prst="rect">
            <a:avLst/>
          </a:prstGeom>
          <a:noFill/>
          <a:ln/>
        </p:spPr>
        <p:txBody>
          <a:bodyPr wrap="square" rtlCol="0" anchor="ctr"/>
          <a:lstStyle/>
          <a:p>
            <a:pPr marL="0" indent="0">
              <a:buNone/>
            </a:pPr>
            <a:r>
              <a:rPr lang="en-US" sz="1200" dirty="0">
                <a:solidFill>
                  <a:srgbClr val="F5A623"/>
                </a:solidFill>
                <a:latin typeface="Calibri" pitchFamily="34" charset="0"/>
                <a:ea typeface="Calibri" pitchFamily="34" charset="-122"/>
                <a:cs typeface="Calibri" pitchFamily="34" charset="-120"/>
              </a:rPr>
              <a:t>5 Questions × 1 Mark = 5 Marks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ARRAY OPERATIONS</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does the following NumPy operation return?</a:t>
            </a:r>
            <a:endParaRPr lang="en-US" sz="1600" dirty="0"/>
          </a:p>
          <a:p>
            <a:pPr marL="0" indent="0">
              <a:buNone/>
            </a:pPr>
            <a:r>
              <a:rPr lang="en-US" sz="1600" b="1" dirty="0">
                <a:solidFill>
                  <a:srgbClr val="FFFFFF"/>
                </a:solidFill>
                <a:latin typeface="Calibri" pitchFamily="34" charset="0"/>
                <a:ea typeface="Calibri" pitchFamily="34" charset="-122"/>
                <a:cs typeface="Calibri" pitchFamily="34" charset="-120"/>
              </a:rPr>
              <a:t>  np.array([1, 2, 3]) * 3</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[3, 6, 9]</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[1, 2, 3, 1, 2, 3, 1, 2, 3]</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[3, 3, 3]</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Error – cannot multiply array by scalar</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dirty="0"/>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BROADCASTING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Which of the following NumPy array shapes are broadcast-compatible?</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(3, 4) and (5, 4)</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(3,) and (3, 3)</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(4, 1) and (1, 4)</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Both B and C</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dirty="0"/>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INDEXING &amp; SLICING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Given arr = np.array([[1,2,3],[4,5,6],[7,8,9]]), what does arr[1:, ::2] return?</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[[4, 6], [7, 9]]</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[[4, 5, 6], [7, 8, 9]]</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[[4, 6], [7, 9]]</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[[5, 6], [8, 9]]</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NUMERICAL COMPUTATIONS</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Which NumPy function computes the dot product of two 1-D arrays?</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np.multiply()</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np.dot()</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np.cross()</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np.sum()</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ARRAY OPERATIONS</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is the output of np.arange(2, 10, 3)?</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[2, 5, 8, 11]</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[2, 5, 8]</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[3, 6, 9]</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[2, 4, 6, 8]</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B</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1920240"/>
          </a:xfrm>
          <a:prstGeom prst="rect">
            <a:avLst/>
          </a:prstGeom>
          <a:solidFill>
            <a:srgbClr val="0F3460"/>
          </a:solidFill>
          <a:ln/>
        </p:spPr>
        <p:txBody>
          <a:bodyPr/>
          <a:lstStyle/>
          <a:p>
            <a:endParaRPr lang="en-IN"/>
          </a:p>
        </p:txBody>
      </p:sp>
      <p:sp>
        <p:nvSpPr>
          <p:cNvPr id="3" name="Shape 1"/>
          <p:cNvSpPr/>
          <p:nvPr/>
        </p:nvSpPr>
        <p:spPr>
          <a:xfrm>
            <a:off x="0" y="1645920"/>
            <a:ext cx="228600" cy="1920240"/>
          </a:xfrm>
          <a:prstGeom prst="rect">
            <a:avLst/>
          </a:prstGeom>
          <a:solidFill>
            <a:srgbClr val="F5A623"/>
          </a:solidFill>
          <a:ln/>
        </p:spPr>
        <p:txBody>
          <a:bodyPr/>
          <a:lstStyle/>
          <a:p>
            <a:endParaRPr lang="en-IN"/>
          </a:p>
        </p:txBody>
      </p:sp>
      <p:sp>
        <p:nvSpPr>
          <p:cNvPr id="4" name="Text 2"/>
          <p:cNvSpPr/>
          <p:nvPr/>
        </p:nvSpPr>
        <p:spPr>
          <a:xfrm>
            <a:off x="457200" y="1737360"/>
            <a:ext cx="8229600" cy="365760"/>
          </a:xfrm>
          <a:prstGeom prst="rect">
            <a:avLst/>
          </a:prstGeom>
          <a:noFill/>
          <a:ln/>
        </p:spPr>
        <p:txBody>
          <a:bodyPr wrap="square" rtlCol="0" anchor="ctr"/>
          <a:lstStyle/>
          <a:p>
            <a:pPr marL="0" indent="0">
              <a:buNone/>
            </a:pPr>
            <a:r>
              <a:rPr lang="en-US" sz="1300" b="1" kern="0" spc="500" dirty="0">
                <a:solidFill>
                  <a:srgbClr val="F5A623"/>
                </a:solidFill>
                <a:latin typeface="Calibri" pitchFamily="34" charset="0"/>
                <a:ea typeface="Calibri" pitchFamily="34" charset="-122"/>
                <a:cs typeface="Calibri" pitchFamily="34" charset="-120"/>
              </a:rPr>
              <a:t>SECTION 2</a:t>
            </a:r>
            <a:endParaRPr lang="en-US" sz="1300" dirty="0"/>
          </a:p>
        </p:txBody>
      </p:sp>
      <p:sp>
        <p:nvSpPr>
          <p:cNvPr id="5" name="Text 3"/>
          <p:cNvSpPr/>
          <p:nvPr/>
        </p:nvSpPr>
        <p:spPr>
          <a:xfrm>
            <a:off x="457200" y="2057400"/>
            <a:ext cx="8229600" cy="68580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Pandas — Series &amp; DataFrames</a:t>
            </a:r>
            <a:endParaRPr lang="en-US" sz="3400" dirty="0"/>
          </a:p>
        </p:txBody>
      </p:sp>
      <p:sp>
        <p:nvSpPr>
          <p:cNvPr id="6" name="Text 4"/>
          <p:cNvSpPr/>
          <p:nvPr/>
        </p:nvSpPr>
        <p:spPr>
          <a:xfrm>
            <a:off x="457200" y="2743200"/>
            <a:ext cx="8229600" cy="365760"/>
          </a:xfrm>
          <a:prstGeom prst="rect">
            <a:avLst/>
          </a:prstGeom>
          <a:noFill/>
          <a:ln/>
        </p:spPr>
        <p:txBody>
          <a:bodyPr wrap="square" rtlCol="0" anchor="ctr"/>
          <a:lstStyle/>
          <a:p>
            <a:pPr marL="0" indent="0">
              <a:buNone/>
            </a:pPr>
            <a:r>
              <a:rPr lang="en-US" sz="1300" i="1" dirty="0">
                <a:solidFill>
                  <a:srgbClr val="A0AEC0"/>
                </a:solidFill>
                <a:latin typeface="Calibri" pitchFamily="34" charset="0"/>
                <a:ea typeface="Calibri" pitchFamily="34" charset="-122"/>
                <a:cs typeface="Calibri" pitchFamily="34" charset="-120"/>
              </a:rPr>
              <a:t>Questions 6–12  ·  Data Loading, Filtering, Sorting &amp; Wrangling</a:t>
            </a:r>
            <a:endParaRPr lang="en-US" sz="1300" dirty="0"/>
          </a:p>
        </p:txBody>
      </p:sp>
      <p:sp>
        <p:nvSpPr>
          <p:cNvPr id="7" name="Text 5"/>
          <p:cNvSpPr/>
          <p:nvPr/>
        </p:nvSpPr>
        <p:spPr>
          <a:xfrm>
            <a:off x="457200" y="4114800"/>
            <a:ext cx="8229600" cy="365760"/>
          </a:xfrm>
          <a:prstGeom prst="rect">
            <a:avLst/>
          </a:prstGeom>
          <a:noFill/>
          <a:ln/>
        </p:spPr>
        <p:txBody>
          <a:bodyPr wrap="square" rtlCol="0" anchor="ctr"/>
          <a:lstStyle/>
          <a:p>
            <a:pPr marL="0" indent="0">
              <a:buNone/>
            </a:pPr>
            <a:r>
              <a:rPr lang="en-US" sz="1200" dirty="0">
                <a:solidFill>
                  <a:srgbClr val="F5A623"/>
                </a:solidFill>
                <a:latin typeface="Calibri" pitchFamily="34" charset="0"/>
                <a:ea typeface="Calibri" pitchFamily="34" charset="-122"/>
                <a:cs typeface="Calibri" pitchFamily="34" charset="-120"/>
              </a:rPr>
              <a:t>7 Questions × 1 Mark = 7 Marks  +  3 Short Answer × 2 Marks = 6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SERIES &amp; DATAFRAMES</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Which Pandas method is used to read a CSV file into a DataFrame?</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pd.read_table()</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pd.read_csv()</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pd.load_csv()</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pd.import_csv()</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B</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DATA LOADING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Which parameter in pd.read_excel() specifies which sheet to load?</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tab_name</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sheet_index</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sheet_name</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worksheet</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C</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8</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FILTERING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Given df with a column 'Age', which expression filters rows where Age &gt; 25?</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df[df.Age &gt; 25]</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df.filter(Age &gt; 25)</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df.where('Age &gt; 25')</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df.query['Age &gt; 25']</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9</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SORTING &amp; GROUPING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Which method sorts a DataFrame by the 'Score' column in descending order?</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df.sort('Score', desc=True)</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df.order_by('Score', ascending=False)</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df.sort_values('Score', ascending=False)</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df.arrange('Score', reverse=True)</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C</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GROUPING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does </a:t>
            </a:r>
            <a:r>
              <a:rPr lang="en-US" sz="1600" b="1" dirty="0" err="1">
                <a:solidFill>
                  <a:srgbClr val="FFFFFF"/>
                </a:solidFill>
                <a:latin typeface="Calibri" pitchFamily="34" charset="0"/>
                <a:ea typeface="Calibri" pitchFamily="34" charset="-122"/>
                <a:cs typeface="Calibri" pitchFamily="34" charset="-120"/>
              </a:rPr>
              <a:t>df.groupby</a:t>
            </a:r>
            <a:r>
              <a:rPr lang="en-US" sz="1600" b="1" dirty="0">
                <a:solidFill>
                  <a:srgbClr val="FFFFFF"/>
                </a:solidFill>
                <a:latin typeface="Calibri" pitchFamily="34" charset="0"/>
                <a:ea typeface="Calibri" pitchFamily="34" charset="-122"/>
                <a:cs typeface="Calibri" pitchFamily="34" charset="-120"/>
              </a:rPr>
              <a:t>('Dept')['Salary'].mean() return?</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A single mean salary value</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Mean salary grouped by department</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Mean salary of the 'Dept' column</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Error – cannot group then mean</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B</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11</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DATA WRANGLING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Which method combines two DataFrames horizontally (column-wise)?</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pd.concat([df1, df2], axis=0)</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pd.concat([df1, df2], axis=1)</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df1.append(df2)</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pd.merge(df1, df2, how='outer')</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B</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E94560"/>
          </a:solidFill>
          <a:ln/>
        </p:spPr>
        <p:txBody>
          <a:bodyPr/>
          <a:lstStyle/>
          <a:p>
            <a:endParaRPr lang="en-IN"/>
          </a:p>
        </p:txBody>
      </p:sp>
      <p:sp>
        <p:nvSpPr>
          <p:cNvPr id="4" name="Shape 2"/>
          <p:cNvSpPr/>
          <p:nvPr/>
        </p:nvSpPr>
        <p:spPr>
          <a:xfrm>
            <a:off x="274320" y="91440"/>
            <a:ext cx="594360" cy="594360"/>
          </a:xfrm>
          <a:prstGeom prst="rect">
            <a:avLst/>
          </a:prstGeom>
          <a:solidFill>
            <a:srgbClr val="E94560"/>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12</a:t>
            </a:r>
            <a:endParaRPr lang="en-US" sz="2200" dirty="0"/>
          </a:p>
        </p:txBody>
      </p:sp>
      <p:sp>
        <p:nvSpPr>
          <p:cNvPr id="6" name="Shape 4"/>
          <p:cNvSpPr/>
          <p:nvPr/>
        </p:nvSpPr>
        <p:spPr>
          <a:xfrm>
            <a:off x="1005840" y="164592"/>
            <a:ext cx="2011680" cy="292608"/>
          </a:xfrm>
          <a:prstGeom prst="rect">
            <a:avLst/>
          </a:prstGeom>
          <a:solidFill>
            <a:srgbClr val="0F3460"/>
          </a:solidFill>
          <a:ln/>
        </p:spPr>
        <p:txBody>
          <a:bodyPr/>
          <a:lstStyle/>
          <a:p>
            <a:endParaRPr lang="en-IN"/>
          </a:p>
        </p:txBody>
      </p:sp>
      <p:sp>
        <p:nvSpPr>
          <p:cNvPr id="7" name="Text 5"/>
          <p:cNvSpPr/>
          <p:nvPr/>
        </p:nvSpPr>
        <p:spPr>
          <a:xfrm>
            <a:off x="1005840" y="164592"/>
            <a:ext cx="201168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DATA WRANGLING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[1 Mark]</a:t>
            </a:r>
            <a:endParaRPr lang="en-US" sz="1000" dirty="0"/>
          </a:p>
        </p:txBody>
      </p:sp>
      <p:sp>
        <p:nvSpPr>
          <p:cNvPr id="9" name="Text 7"/>
          <p:cNvSpPr/>
          <p:nvPr/>
        </p:nvSpPr>
        <p:spPr>
          <a:xfrm>
            <a:off x="365760" y="1005840"/>
            <a:ext cx="8412480" cy="10058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does df.dropna() do to a DataFrame?</a:t>
            </a:r>
            <a:endParaRPr lang="en-US" sz="1600" dirty="0"/>
          </a:p>
        </p:txBody>
      </p:sp>
      <p:sp>
        <p:nvSpPr>
          <p:cNvPr id="10" name="Shape 8"/>
          <p:cNvSpPr/>
          <p:nvPr/>
        </p:nvSpPr>
        <p:spPr>
          <a:xfrm>
            <a:off x="36576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1" name="Shape 9"/>
          <p:cNvSpPr/>
          <p:nvPr/>
        </p:nvSpPr>
        <p:spPr>
          <a:xfrm>
            <a:off x="365760" y="2148840"/>
            <a:ext cx="502920" cy="822960"/>
          </a:xfrm>
          <a:prstGeom prst="rect">
            <a:avLst/>
          </a:prstGeom>
          <a:solidFill>
            <a:srgbClr val="0F3460"/>
          </a:solidFill>
          <a:ln/>
        </p:spPr>
        <p:txBody>
          <a:bodyPr/>
          <a:lstStyle/>
          <a:p>
            <a:endParaRPr lang="en-IN"/>
          </a:p>
        </p:txBody>
      </p:sp>
      <p:sp>
        <p:nvSpPr>
          <p:cNvPr id="12" name="Text 10"/>
          <p:cNvSpPr/>
          <p:nvPr/>
        </p:nvSpPr>
        <p:spPr>
          <a:xfrm>
            <a:off x="36576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96012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Drops all columns with NaN values</a:t>
            </a:r>
            <a:endParaRPr lang="en-US" sz="1300" dirty="0"/>
          </a:p>
        </p:txBody>
      </p:sp>
      <p:sp>
        <p:nvSpPr>
          <p:cNvPr id="14" name="Shape 12"/>
          <p:cNvSpPr/>
          <p:nvPr/>
        </p:nvSpPr>
        <p:spPr>
          <a:xfrm>
            <a:off x="4663440" y="2148840"/>
            <a:ext cx="4023360" cy="822960"/>
          </a:xfrm>
          <a:prstGeom prst="rect">
            <a:avLst/>
          </a:prstGeom>
          <a:solidFill>
            <a:srgbClr val="1A1A2E"/>
          </a:solidFill>
          <a:ln w="12700">
            <a:solidFill>
              <a:srgbClr val="0F3460"/>
            </a:solidFill>
            <a:prstDash val="solid"/>
          </a:ln>
        </p:spPr>
        <p:txBody>
          <a:bodyPr/>
          <a:lstStyle/>
          <a:p>
            <a:endParaRPr lang="en-IN"/>
          </a:p>
        </p:txBody>
      </p:sp>
      <p:sp>
        <p:nvSpPr>
          <p:cNvPr id="15" name="Shape 13"/>
          <p:cNvSpPr/>
          <p:nvPr/>
        </p:nvSpPr>
        <p:spPr>
          <a:xfrm>
            <a:off x="4663440" y="2148840"/>
            <a:ext cx="502920" cy="822960"/>
          </a:xfrm>
          <a:prstGeom prst="rect">
            <a:avLst/>
          </a:prstGeom>
          <a:solidFill>
            <a:srgbClr val="0F3460"/>
          </a:solidFill>
          <a:ln/>
        </p:spPr>
        <p:txBody>
          <a:bodyPr/>
          <a:lstStyle/>
          <a:p>
            <a:endParaRPr lang="en-IN"/>
          </a:p>
        </p:txBody>
      </p:sp>
      <p:sp>
        <p:nvSpPr>
          <p:cNvPr id="16" name="Text 14"/>
          <p:cNvSpPr/>
          <p:nvPr/>
        </p:nvSpPr>
        <p:spPr>
          <a:xfrm>
            <a:off x="4663440" y="214884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p:nvPr/>
        </p:nvSpPr>
        <p:spPr>
          <a:xfrm>
            <a:off x="5257800" y="214884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Fills NaN values with 0</a:t>
            </a:r>
            <a:endParaRPr lang="en-US" sz="1300" dirty="0"/>
          </a:p>
        </p:txBody>
      </p:sp>
      <p:sp>
        <p:nvSpPr>
          <p:cNvPr id="18" name="Shape 16"/>
          <p:cNvSpPr/>
          <p:nvPr/>
        </p:nvSpPr>
        <p:spPr>
          <a:xfrm>
            <a:off x="36576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19" name="Shape 17"/>
          <p:cNvSpPr/>
          <p:nvPr/>
        </p:nvSpPr>
        <p:spPr>
          <a:xfrm>
            <a:off x="365760" y="3246120"/>
            <a:ext cx="502920" cy="822960"/>
          </a:xfrm>
          <a:prstGeom prst="rect">
            <a:avLst/>
          </a:prstGeom>
          <a:solidFill>
            <a:srgbClr val="0F3460"/>
          </a:solidFill>
          <a:ln/>
        </p:spPr>
        <p:txBody>
          <a:bodyPr/>
          <a:lstStyle/>
          <a:p>
            <a:endParaRPr lang="en-IN"/>
          </a:p>
        </p:txBody>
      </p:sp>
      <p:sp>
        <p:nvSpPr>
          <p:cNvPr id="20" name="Text 18"/>
          <p:cNvSpPr/>
          <p:nvPr/>
        </p:nvSpPr>
        <p:spPr>
          <a:xfrm>
            <a:off x="36576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96012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Drops all rows containing NaN values</a:t>
            </a:r>
            <a:endParaRPr lang="en-US" sz="1300" dirty="0"/>
          </a:p>
        </p:txBody>
      </p:sp>
      <p:sp>
        <p:nvSpPr>
          <p:cNvPr id="22" name="Shape 20"/>
          <p:cNvSpPr/>
          <p:nvPr/>
        </p:nvSpPr>
        <p:spPr>
          <a:xfrm>
            <a:off x="4663440" y="3246120"/>
            <a:ext cx="4023360" cy="822960"/>
          </a:xfrm>
          <a:prstGeom prst="rect">
            <a:avLst/>
          </a:prstGeom>
          <a:solidFill>
            <a:srgbClr val="1A1A2E"/>
          </a:solidFill>
          <a:ln w="12700">
            <a:solidFill>
              <a:srgbClr val="0F3460"/>
            </a:solidFill>
            <a:prstDash val="solid"/>
          </a:ln>
        </p:spPr>
        <p:txBody>
          <a:bodyPr/>
          <a:lstStyle/>
          <a:p>
            <a:endParaRPr lang="en-IN"/>
          </a:p>
        </p:txBody>
      </p:sp>
      <p:sp>
        <p:nvSpPr>
          <p:cNvPr id="23" name="Shape 21"/>
          <p:cNvSpPr/>
          <p:nvPr/>
        </p:nvSpPr>
        <p:spPr>
          <a:xfrm>
            <a:off x="4663440" y="3246120"/>
            <a:ext cx="502920" cy="822960"/>
          </a:xfrm>
          <a:prstGeom prst="rect">
            <a:avLst/>
          </a:prstGeom>
          <a:solidFill>
            <a:srgbClr val="0F3460"/>
          </a:solidFill>
          <a:ln/>
        </p:spPr>
        <p:txBody>
          <a:bodyPr/>
          <a:lstStyle/>
          <a:p>
            <a:endParaRPr lang="en-IN"/>
          </a:p>
        </p:txBody>
      </p:sp>
      <p:sp>
        <p:nvSpPr>
          <p:cNvPr id="24" name="Text 22"/>
          <p:cNvSpPr/>
          <p:nvPr/>
        </p:nvSpPr>
        <p:spPr>
          <a:xfrm>
            <a:off x="4663440" y="3246120"/>
            <a:ext cx="50292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Text 23"/>
          <p:cNvSpPr/>
          <p:nvPr/>
        </p:nvSpPr>
        <p:spPr>
          <a:xfrm>
            <a:off x="5257800" y="3246120"/>
            <a:ext cx="3291840" cy="822960"/>
          </a:xfrm>
          <a:prstGeom prst="rect">
            <a:avLst/>
          </a:prstGeom>
          <a:noFill/>
          <a:ln/>
        </p:spPr>
        <p:txBody>
          <a:bodyPr wrap="square" rtlCol="0" anchor="ctr"/>
          <a:lstStyle/>
          <a:p>
            <a:pPr marL="0" indent="0">
              <a:buNone/>
            </a:pPr>
            <a:r>
              <a:rPr lang="en-US" sz="1300" dirty="0">
                <a:solidFill>
                  <a:srgbClr val="F0F0F0"/>
                </a:solidFill>
                <a:latin typeface="Calibri" pitchFamily="34" charset="0"/>
                <a:ea typeface="Calibri" pitchFamily="34" charset="-122"/>
                <a:cs typeface="Calibri" pitchFamily="34" charset="-120"/>
              </a:rPr>
              <a:t>Replaces NaN with the column mean</a:t>
            </a:r>
            <a:endParaRPr lang="en-US" sz="1300" dirty="0"/>
          </a:p>
        </p:txBody>
      </p:sp>
      <p:sp>
        <p:nvSpPr>
          <p:cNvPr id="26" name="Shape 24"/>
          <p:cNvSpPr/>
          <p:nvPr/>
        </p:nvSpPr>
        <p:spPr>
          <a:xfrm>
            <a:off x="365760" y="4251960"/>
            <a:ext cx="8412480" cy="594360"/>
          </a:xfrm>
          <a:prstGeom prst="rect">
            <a:avLst/>
          </a:prstGeom>
          <a:solidFill>
            <a:srgbClr val="1A1A2E"/>
          </a:solidFill>
          <a:ln w="12700">
            <a:solidFill>
              <a:srgbClr val="0F3460"/>
            </a:solidFill>
            <a:prstDash val="solid"/>
          </a:ln>
        </p:spPr>
        <p:txBody>
          <a:bodyPr/>
          <a:lstStyle/>
          <a:p>
            <a:endParaRPr lang="en-IN"/>
          </a:p>
        </p:txBody>
      </p:sp>
      <p:sp>
        <p:nvSpPr>
          <p:cNvPr id="27" name="Text 25"/>
          <p:cNvSpPr/>
          <p:nvPr/>
        </p:nvSpPr>
        <p:spPr>
          <a:xfrm>
            <a:off x="548640" y="4279392"/>
            <a:ext cx="3657600" cy="530352"/>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Answer:  C</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F5A623"/>
          </a:solidFill>
          <a:ln/>
        </p:spPr>
        <p:txBody>
          <a:bodyPr/>
          <a:lstStyle/>
          <a:p>
            <a:endParaRPr lang="en-IN"/>
          </a:p>
        </p:txBody>
      </p:sp>
      <p:sp>
        <p:nvSpPr>
          <p:cNvPr id="4" name="Shape 2"/>
          <p:cNvSpPr/>
          <p:nvPr/>
        </p:nvSpPr>
        <p:spPr>
          <a:xfrm>
            <a:off x="274320" y="91440"/>
            <a:ext cx="594360" cy="594360"/>
          </a:xfrm>
          <a:prstGeom prst="rect">
            <a:avLst/>
          </a:prstGeom>
          <a:solidFill>
            <a:srgbClr val="F5A623"/>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1A1A2E"/>
                </a:solidFill>
                <a:latin typeface="Calibri" pitchFamily="34" charset="0"/>
                <a:ea typeface="Calibri" pitchFamily="34" charset="-122"/>
                <a:cs typeface="Calibri" pitchFamily="34" charset="-120"/>
              </a:rPr>
              <a:t>13</a:t>
            </a:r>
            <a:endParaRPr lang="en-US" sz="2200" dirty="0"/>
          </a:p>
        </p:txBody>
      </p:sp>
      <p:sp>
        <p:nvSpPr>
          <p:cNvPr id="6" name="Shape 4"/>
          <p:cNvSpPr/>
          <p:nvPr/>
        </p:nvSpPr>
        <p:spPr>
          <a:xfrm>
            <a:off x="1005840" y="164592"/>
            <a:ext cx="2286000" cy="292608"/>
          </a:xfrm>
          <a:prstGeom prst="rect">
            <a:avLst/>
          </a:prstGeom>
          <a:solidFill>
            <a:srgbClr val="0F3460"/>
          </a:solidFill>
          <a:ln/>
        </p:spPr>
        <p:txBody>
          <a:bodyPr/>
          <a:lstStyle/>
          <a:p>
            <a:endParaRPr lang="en-IN"/>
          </a:p>
        </p:txBody>
      </p:sp>
      <p:sp>
        <p:nvSpPr>
          <p:cNvPr id="7" name="Text 5"/>
          <p:cNvSpPr/>
          <p:nvPr/>
        </p:nvSpPr>
        <p:spPr>
          <a:xfrm>
            <a:off x="1005840" y="164592"/>
            <a:ext cx="228600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PANDAS – GROUPBY</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[2 Marks]</a:t>
            </a:r>
            <a:endParaRPr lang="en-US" sz="1000" dirty="0"/>
          </a:p>
        </p:txBody>
      </p:sp>
      <p:sp>
        <p:nvSpPr>
          <p:cNvPr id="9" name="Text 7"/>
          <p:cNvSpPr/>
          <p:nvPr/>
        </p:nvSpPr>
        <p:spPr>
          <a:xfrm>
            <a:off x="365760" y="914400"/>
            <a:ext cx="8412480" cy="256032"/>
          </a:xfrm>
          <a:prstGeom prst="rect">
            <a:avLst/>
          </a:prstGeom>
          <a:noFill/>
          <a:ln/>
        </p:spPr>
        <p:txBody>
          <a:bodyPr wrap="square"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SHORT ANSWER</a:t>
            </a:r>
            <a:endParaRPr lang="en-US" sz="900" dirty="0"/>
          </a:p>
        </p:txBody>
      </p:sp>
      <p:sp>
        <p:nvSpPr>
          <p:cNvPr id="10" name="Text 8"/>
          <p:cNvSpPr/>
          <p:nvPr/>
        </p:nvSpPr>
        <p:spPr>
          <a:xfrm>
            <a:off x="365760" y="1188720"/>
            <a:ext cx="8412480" cy="9144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Explain the split-apply-combine strategy used by groupby() in Pandas. Provide a real-world example showing how groupby() with an aggregation function is used.</a:t>
            </a:r>
            <a:endParaRPr lang="en-US" sz="1600" dirty="0"/>
          </a:p>
        </p:txBody>
      </p:sp>
      <p:sp>
        <p:nvSpPr>
          <p:cNvPr id="11" name="Shape 9"/>
          <p:cNvSpPr/>
          <p:nvPr/>
        </p:nvSpPr>
        <p:spPr>
          <a:xfrm>
            <a:off x="365760" y="2331720"/>
            <a:ext cx="8412480" cy="0"/>
          </a:xfrm>
          <a:prstGeom prst="line">
            <a:avLst/>
          </a:prstGeom>
          <a:noFill/>
          <a:ln w="9525">
            <a:solidFill>
              <a:srgbClr val="0F3460"/>
            </a:solidFill>
            <a:prstDash val="solid"/>
          </a:ln>
        </p:spPr>
        <p:txBody>
          <a:bodyPr/>
          <a:lstStyle/>
          <a:p>
            <a:endParaRPr lang="en-IN" dirty="0"/>
          </a:p>
        </p:txBody>
      </p:sp>
      <p:sp>
        <p:nvSpPr>
          <p:cNvPr id="12" name="Shape 10"/>
          <p:cNvSpPr/>
          <p:nvPr/>
        </p:nvSpPr>
        <p:spPr>
          <a:xfrm>
            <a:off x="365760" y="2880360"/>
            <a:ext cx="8412480" cy="0"/>
          </a:xfrm>
          <a:prstGeom prst="line">
            <a:avLst/>
          </a:prstGeom>
          <a:noFill/>
          <a:ln w="9525">
            <a:solidFill>
              <a:srgbClr val="0F3460"/>
            </a:solidFill>
            <a:prstDash val="solid"/>
          </a:ln>
        </p:spPr>
        <p:txBody>
          <a:bodyPr/>
          <a:lstStyle/>
          <a:p>
            <a:endParaRPr lang="en-IN"/>
          </a:p>
        </p:txBody>
      </p:sp>
      <p:sp>
        <p:nvSpPr>
          <p:cNvPr id="13" name="Shape 11"/>
          <p:cNvSpPr/>
          <p:nvPr/>
        </p:nvSpPr>
        <p:spPr>
          <a:xfrm>
            <a:off x="365760" y="3429000"/>
            <a:ext cx="8412480" cy="0"/>
          </a:xfrm>
          <a:prstGeom prst="line">
            <a:avLst/>
          </a:prstGeom>
          <a:noFill/>
          <a:ln w="9525">
            <a:solidFill>
              <a:srgbClr val="0F3460"/>
            </a:solidFill>
            <a:prstDash val="solid"/>
          </a:ln>
        </p:spPr>
        <p:txBody>
          <a:bodyPr/>
          <a:lstStyle/>
          <a:p>
            <a:endParaRPr lang="en-IN"/>
          </a:p>
        </p:txBody>
      </p:sp>
      <p:sp>
        <p:nvSpPr>
          <p:cNvPr id="14" name="Shape 12"/>
          <p:cNvSpPr/>
          <p:nvPr/>
        </p:nvSpPr>
        <p:spPr>
          <a:xfrm>
            <a:off x="365760" y="3977640"/>
            <a:ext cx="8412480" cy="0"/>
          </a:xfrm>
          <a:prstGeom prst="line">
            <a:avLst/>
          </a:prstGeom>
          <a:noFill/>
          <a:ln w="9525">
            <a:solidFill>
              <a:srgbClr val="0F3460"/>
            </a:solidFill>
            <a:prstDash val="solid"/>
          </a:ln>
        </p:spPr>
        <p:txBody>
          <a:bodyPr/>
          <a:lstStyle/>
          <a:p>
            <a:endParaRPr lang="en-IN"/>
          </a:p>
        </p:txBody>
      </p:sp>
      <p:sp>
        <p:nvSpPr>
          <p:cNvPr id="15" name="Shape 13"/>
          <p:cNvSpPr/>
          <p:nvPr/>
        </p:nvSpPr>
        <p:spPr>
          <a:xfrm>
            <a:off x="365760" y="4526280"/>
            <a:ext cx="8412480" cy="0"/>
          </a:xfrm>
          <a:prstGeom prst="line">
            <a:avLst/>
          </a:prstGeom>
          <a:noFill/>
          <a:ln w="9525">
            <a:solidFill>
              <a:srgbClr val="0F3460"/>
            </a:solidFill>
            <a:prstDash val="solid"/>
          </a:ln>
        </p:spPr>
        <p:txBody>
          <a:bodyPr/>
          <a:lstStyle/>
          <a:p>
            <a:endParaRPr lang="en-IN"/>
          </a:p>
        </p:txBody>
      </p:sp>
      <p:sp>
        <p:nvSpPr>
          <p:cNvPr id="16" name="Text 14"/>
          <p:cNvSpPr/>
          <p:nvPr/>
        </p:nvSpPr>
        <p:spPr>
          <a:xfrm>
            <a:off x="365759" y="2176271"/>
            <a:ext cx="8470943" cy="2052828"/>
          </a:xfrm>
          <a:prstGeom prst="rect">
            <a:avLst/>
          </a:prstGeom>
          <a:noFill/>
          <a:ln/>
        </p:spPr>
        <p:txBody>
          <a:bodyPr wrap="square" rtlCol="0" anchor="ctr"/>
          <a:lstStyle/>
          <a:p>
            <a:r>
              <a:rPr lang="en-US" sz="1400" dirty="0">
                <a:solidFill>
                  <a:schemeClr val="bg1"/>
                </a:solidFill>
                <a:latin typeface="Calibri" pitchFamily="34" charset="0"/>
                <a:ea typeface="Calibri" pitchFamily="34" charset="-122"/>
                <a:cs typeface="Calibri" pitchFamily="34" charset="-120"/>
              </a:rPr>
              <a:t>Answer: Split–Apply–Combine in Pandas*groupby() follows split-apply-combine: data is split into groups based on a column, a function like mean or sum is applied to each group, and results are combined into a summary table. For example, </a:t>
            </a:r>
            <a:r>
              <a:rPr lang="en-US" sz="1400" dirty="0" err="1">
                <a:solidFill>
                  <a:schemeClr val="bg1"/>
                </a:solidFill>
                <a:latin typeface="Calibri" pitchFamily="34" charset="0"/>
                <a:ea typeface="Calibri" pitchFamily="34" charset="-122"/>
                <a:cs typeface="Calibri" pitchFamily="34" charset="-120"/>
              </a:rPr>
              <a:t>df.groupby</a:t>
            </a:r>
            <a:r>
              <a:rPr lang="en-US" sz="1400" dirty="0">
                <a:solidFill>
                  <a:schemeClr val="bg1"/>
                </a:solidFill>
                <a:latin typeface="Calibri" pitchFamily="34" charset="0"/>
                <a:ea typeface="Calibri" pitchFamily="34" charset="-122"/>
                <a:cs typeface="Calibri" pitchFamily="34" charset="-120"/>
              </a:rPr>
              <a:t>("Department")["Score"].mean() calculates the average score per department.</a:t>
            </a:r>
            <a:endParaRPr lang="en-US" sz="1400" dirty="0">
              <a:solidFill>
                <a:schemeClr val="bg1"/>
              </a:solidFill>
            </a:endParaRPr>
          </a:p>
          <a:p>
            <a:endParaRPr lang="en-US" sz="1100" dirty="0">
              <a:solidFill>
                <a:schemeClr val="bg1"/>
              </a:solidFill>
            </a:endParaRPr>
          </a:p>
          <a:p>
            <a:endParaRPr lang="en-US" sz="1100" dirty="0">
              <a:solidFill>
                <a:schemeClr val="bg1"/>
              </a:solidFill>
            </a:endParaRPr>
          </a:p>
          <a:p>
            <a:endParaRPr lang="en-US" sz="1100" dirty="0">
              <a:solidFill>
                <a:schemeClr val="bg1"/>
              </a:solidFill>
            </a:endParaRPr>
          </a:p>
          <a:p>
            <a:endParaRPr lang="en-US" sz="1100" dirty="0">
              <a:solidFill>
                <a:schemeClr val="bg1"/>
              </a:solidFill>
            </a:endParaRPr>
          </a:p>
          <a:p>
            <a:endParaRPr lang="en-US" sz="1100" dirty="0">
              <a:solidFill>
                <a:schemeClr val="bg1"/>
              </a:solidFill>
            </a:endParaRPr>
          </a:p>
          <a:p>
            <a:endParaRPr lang="en-US" sz="1100" dirty="0">
              <a:solidFill>
                <a:schemeClr val="bg1"/>
              </a:solidFill>
            </a:endParaRPr>
          </a:p>
          <a:p>
            <a:endParaRPr lang="en-US" sz="1100" dirty="0">
              <a:solidFill>
                <a:schemeClr val="bg1"/>
              </a:solidFill>
            </a:endParaRPr>
          </a:p>
          <a:p>
            <a:endParaRPr lang="en-US" sz="11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F5A623"/>
          </a:solidFill>
          <a:ln/>
        </p:spPr>
        <p:txBody>
          <a:bodyPr/>
          <a:lstStyle/>
          <a:p>
            <a:endParaRPr lang="en-IN"/>
          </a:p>
        </p:txBody>
      </p:sp>
      <p:sp>
        <p:nvSpPr>
          <p:cNvPr id="4" name="Shape 2"/>
          <p:cNvSpPr/>
          <p:nvPr/>
        </p:nvSpPr>
        <p:spPr>
          <a:xfrm>
            <a:off x="274320" y="91440"/>
            <a:ext cx="594360" cy="594360"/>
          </a:xfrm>
          <a:prstGeom prst="rect">
            <a:avLst/>
          </a:prstGeom>
          <a:solidFill>
            <a:srgbClr val="F5A623"/>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1A1A2E"/>
                </a:solidFill>
                <a:latin typeface="Calibri" pitchFamily="34" charset="0"/>
                <a:ea typeface="Calibri" pitchFamily="34" charset="-122"/>
                <a:cs typeface="Calibri" pitchFamily="34" charset="-120"/>
              </a:rPr>
              <a:t>14</a:t>
            </a:r>
            <a:endParaRPr lang="en-US" sz="2200" dirty="0"/>
          </a:p>
        </p:txBody>
      </p:sp>
      <p:sp>
        <p:nvSpPr>
          <p:cNvPr id="6" name="Shape 4"/>
          <p:cNvSpPr/>
          <p:nvPr/>
        </p:nvSpPr>
        <p:spPr>
          <a:xfrm>
            <a:off x="1005840" y="164592"/>
            <a:ext cx="2286000" cy="292608"/>
          </a:xfrm>
          <a:prstGeom prst="rect">
            <a:avLst/>
          </a:prstGeom>
          <a:solidFill>
            <a:srgbClr val="0F3460"/>
          </a:solidFill>
          <a:ln/>
        </p:spPr>
        <p:txBody>
          <a:bodyPr/>
          <a:lstStyle/>
          <a:p>
            <a:endParaRPr lang="en-IN"/>
          </a:p>
        </p:txBody>
      </p:sp>
      <p:sp>
        <p:nvSpPr>
          <p:cNvPr id="7" name="Text 5"/>
          <p:cNvSpPr/>
          <p:nvPr/>
        </p:nvSpPr>
        <p:spPr>
          <a:xfrm>
            <a:off x="1005840" y="164592"/>
            <a:ext cx="228600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NUMPY – BROADCASTING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[2 Marks]</a:t>
            </a:r>
            <a:endParaRPr lang="en-US" sz="1000" dirty="0"/>
          </a:p>
        </p:txBody>
      </p:sp>
      <p:sp>
        <p:nvSpPr>
          <p:cNvPr id="9" name="Text 7"/>
          <p:cNvSpPr/>
          <p:nvPr/>
        </p:nvSpPr>
        <p:spPr>
          <a:xfrm>
            <a:off x="365760" y="914400"/>
            <a:ext cx="8412480" cy="256032"/>
          </a:xfrm>
          <a:prstGeom prst="rect">
            <a:avLst/>
          </a:prstGeom>
          <a:noFill/>
          <a:ln/>
        </p:spPr>
        <p:txBody>
          <a:bodyPr wrap="square"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SHORT ANSWER</a:t>
            </a:r>
            <a:endParaRPr lang="en-US" sz="900" dirty="0"/>
          </a:p>
        </p:txBody>
      </p:sp>
      <p:sp>
        <p:nvSpPr>
          <p:cNvPr id="10" name="Text 8"/>
          <p:cNvSpPr/>
          <p:nvPr/>
        </p:nvSpPr>
        <p:spPr>
          <a:xfrm>
            <a:off x="365760" y="1188720"/>
            <a:ext cx="8412480" cy="9144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is broadcasting in NumPy? State the broadcasting rules and give an example showing how arrays of shapes (3, 1) and (1, 4) would interact.</a:t>
            </a:r>
            <a:endParaRPr lang="en-US" sz="1600" dirty="0"/>
          </a:p>
        </p:txBody>
      </p:sp>
      <p:sp>
        <p:nvSpPr>
          <p:cNvPr id="11" name="Shape 9"/>
          <p:cNvSpPr/>
          <p:nvPr/>
        </p:nvSpPr>
        <p:spPr>
          <a:xfrm>
            <a:off x="365760" y="2331720"/>
            <a:ext cx="8412480" cy="0"/>
          </a:xfrm>
          <a:prstGeom prst="line">
            <a:avLst/>
          </a:prstGeom>
          <a:noFill/>
          <a:ln w="9525">
            <a:solidFill>
              <a:srgbClr val="0F3460"/>
            </a:solidFill>
            <a:prstDash val="solid"/>
          </a:ln>
        </p:spPr>
        <p:txBody>
          <a:bodyPr/>
          <a:lstStyle/>
          <a:p>
            <a:endParaRPr lang="en-IN"/>
          </a:p>
        </p:txBody>
      </p:sp>
      <p:sp>
        <p:nvSpPr>
          <p:cNvPr id="12" name="Shape 10"/>
          <p:cNvSpPr/>
          <p:nvPr/>
        </p:nvSpPr>
        <p:spPr>
          <a:xfrm>
            <a:off x="365760" y="2880360"/>
            <a:ext cx="8412480" cy="0"/>
          </a:xfrm>
          <a:prstGeom prst="line">
            <a:avLst/>
          </a:prstGeom>
          <a:noFill/>
          <a:ln w="9525">
            <a:solidFill>
              <a:srgbClr val="0F3460"/>
            </a:solidFill>
            <a:prstDash val="solid"/>
          </a:ln>
        </p:spPr>
        <p:txBody>
          <a:bodyPr/>
          <a:lstStyle/>
          <a:p>
            <a:endParaRPr lang="en-IN"/>
          </a:p>
        </p:txBody>
      </p:sp>
      <p:sp>
        <p:nvSpPr>
          <p:cNvPr id="13" name="Shape 11"/>
          <p:cNvSpPr/>
          <p:nvPr/>
        </p:nvSpPr>
        <p:spPr>
          <a:xfrm>
            <a:off x="365760" y="3429000"/>
            <a:ext cx="8412480" cy="0"/>
          </a:xfrm>
          <a:prstGeom prst="line">
            <a:avLst/>
          </a:prstGeom>
          <a:noFill/>
          <a:ln w="9525">
            <a:solidFill>
              <a:srgbClr val="0F3460"/>
            </a:solidFill>
            <a:prstDash val="solid"/>
          </a:ln>
        </p:spPr>
        <p:txBody>
          <a:bodyPr/>
          <a:lstStyle/>
          <a:p>
            <a:endParaRPr lang="en-IN"/>
          </a:p>
        </p:txBody>
      </p:sp>
      <p:sp>
        <p:nvSpPr>
          <p:cNvPr id="14" name="Shape 12"/>
          <p:cNvSpPr/>
          <p:nvPr/>
        </p:nvSpPr>
        <p:spPr>
          <a:xfrm>
            <a:off x="365760" y="3977640"/>
            <a:ext cx="8412480" cy="0"/>
          </a:xfrm>
          <a:prstGeom prst="line">
            <a:avLst/>
          </a:prstGeom>
          <a:noFill/>
          <a:ln w="9525">
            <a:solidFill>
              <a:srgbClr val="0F3460"/>
            </a:solidFill>
            <a:prstDash val="solid"/>
          </a:ln>
        </p:spPr>
        <p:txBody>
          <a:bodyPr/>
          <a:lstStyle/>
          <a:p>
            <a:endParaRPr lang="en-IN"/>
          </a:p>
        </p:txBody>
      </p:sp>
      <p:sp>
        <p:nvSpPr>
          <p:cNvPr id="15" name="Shape 13"/>
          <p:cNvSpPr/>
          <p:nvPr/>
        </p:nvSpPr>
        <p:spPr>
          <a:xfrm>
            <a:off x="365760" y="4526280"/>
            <a:ext cx="8412480" cy="0"/>
          </a:xfrm>
          <a:prstGeom prst="line">
            <a:avLst/>
          </a:prstGeom>
          <a:noFill/>
          <a:ln w="9525">
            <a:solidFill>
              <a:srgbClr val="0F3460"/>
            </a:solidFill>
            <a:prstDash val="solid"/>
          </a:ln>
        </p:spPr>
        <p:txBody>
          <a:bodyPr/>
          <a:lstStyle/>
          <a:p>
            <a:endParaRPr lang="en-IN"/>
          </a:p>
        </p:txBody>
      </p:sp>
      <p:sp>
        <p:nvSpPr>
          <p:cNvPr id="16" name="Text 14"/>
          <p:cNvSpPr/>
          <p:nvPr/>
        </p:nvSpPr>
        <p:spPr>
          <a:xfrm>
            <a:off x="463196" y="2560321"/>
            <a:ext cx="6642142" cy="1801368"/>
          </a:xfrm>
          <a:prstGeom prst="rect">
            <a:avLst/>
          </a:prstGeom>
          <a:noFill/>
          <a:ln/>
        </p:spPr>
        <p:txBody>
          <a:bodyPr wrap="square" rtlCol="0" anchor="ctr"/>
          <a:lstStyle/>
          <a:p>
            <a:r>
              <a:rPr lang="en-US" sz="1400" dirty="0">
                <a:solidFill>
                  <a:srgbClr val="A0AEC0"/>
                </a:solidFill>
                <a:latin typeface="Calibri" pitchFamily="34" charset="0"/>
                <a:ea typeface="Calibri" pitchFamily="34" charset="-122"/>
                <a:cs typeface="Calibri" pitchFamily="34" charset="-120"/>
              </a:rPr>
              <a:t>Answer: Broadcasting in NumPy*Broadcasting allows NumPy arrays of different shapes to perform operations if dimensions match or one equals 1, comparing from the right. For shapes (3,1) and (1,4), they expand to (3,4), enabling element-wise operations like addition across rows and columns automatically.</a:t>
            </a: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1A2E"/>
          </a:solidFill>
          <a:ln/>
        </p:spPr>
        <p:txBody>
          <a:bodyPr/>
          <a:lstStyle/>
          <a:p>
            <a:endParaRPr lang="en-IN"/>
          </a:p>
        </p:txBody>
      </p:sp>
      <p:sp>
        <p:nvSpPr>
          <p:cNvPr id="3" name="Shape 1"/>
          <p:cNvSpPr/>
          <p:nvPr/>
        </p:nvSpPr>
        <p:spPr>
          <a:xfrm>
            <a:off x="0" y="822960"/>
            <a:ext cx="9144000" cy="54864"/>
          </a:xfrm>
          <a:prstGeom prst="rect">
            <a:avLst/>
          </a:prstGeom>
          <a:solidFill>
            <a:srgbClr val="F5A623"/>
          </a:solidFill>
          <a:ln/>
        </p:spPr>
        <p:txBody>
          <a:bodyPr/>
          <a:lstStyle/>
          <a:p>
            <a:endParaRPr lang="en-IN"/>
          </a:p>
        </p:txBody>
      </p:sp>
      <p:sp>
        <p:nvSpPr>
          <p:cNvPr id="4" name="Shape 2"/>
          <p:cNvSpPr/>
          <p:nvPr/>
        </p:nvSpPr>
        <p:spPr>
          <a:xfrm>
            <a:off x="274320" y="91440"/>
            <a:ext cx="594360" cy="594360"/>
          </a:xfrm>
          <a:prstGeom prst="rect">
            <a:avLst/>
          </a:prstGeom>
          <a:solidFill>
            <a:srgbClr val="F5A623"/>
          </a:solidFill>
          <a:ln/>
        </p:spPr>
        <p:txBody>
          <a:bodyPr/>
          <a:lstStyle/>
          <a:p>
            <a:endParaRPr lang="en-IN"/>
          </a:p>
        </p:txBody>
      </p:sp>
      <p:sp>
        <p:nvSpPr>
          <p:cNvPr id="5" name="Text 3"/>
          <p:cNvSpPr/>
          <p:nvPr/>
        </p:nvSpPr>
        <p:spPr>
          <a:xfrm>
            <a:off x="274320" y="91440"/>
            <a:ext cx="594360" cy="594360"/>
          </a:xfrm>
          <a:prstGeom prst="rect">
            <a:avLst/>
          </a:prstGeom>
          <a:noFill/>
          <a:ln/>
        </p:spPr>
        <p:txBody>
          <a:bodyPr wrap="square" rtlCol="0" anchor="ctr"/>
          <a:lstStyle/>
          <a:p>
            <a:pPr marL="0" indent="0" algn="ctr">
              <a:buNone/>
            </a:pPr>
            <a:r>
              <a:rPr lang="en-US" sz="2200" b="1" dirty="0">
                <a:solidFill>
                  <a:srgbClr val="1A1A2E"/>
                </a:solidFill>
                <a:latin typeface="Calibri" pitchFamily="34" charset="0"/>
                <a:ea typeface="Calibri" pitchFamily="34" charset="-122"/>
                <a:cs typeface="Calibri" pitchFamily="34" charset="-120"/>
              </a:rPr>
              <a:t>15</a:t>
            </a:r>
            <a:endParaRPr lang="en-US" sz="2200" dirty="0"/>
          </a:p>
        </p:txBody>
      </p:sp>
      <p:sp>
        <p:nvSpPr>
          <p:cNvPr id="6" name="Shape 4"/>
          <p:cNvSpPr/>
          <p:nvPr/>
        </p:nvSpPr>
        <p:spPr>
          <a:xfrm>
            <a:off x="1005840" y="164592"/>
            <a:ext cx="2286000" cy="292608"/>
          </a:xfrm>
          <a:prstGeom prst="rect">
            <a:avLst/>
          </a:prstGeom>
          <a:solidFill>
            <a:srgbClr val="0F3460"/>
          </a:solidFill>
          <a:ln/>
        </p:spPr>
        <p:txBody>
          <a:bodyPr/>
          <a:lstStyle/>
          <a:p>
            <a:endParaRPr lang="en-IN"/>
          </a:p>
        </p:txBody>
      </p:sp>
      <p:sp>
        <p:nvSpPr>
          <p:cNvPr id="7" name="Text 5"/>
          <p:cNvSpPr/>
          <p:nvPr/>
        </p:nvSpPr>
        <p:spPr>
          <a:xfrm>
            <a:off x="1005840" y="164592"/>
            <a:ext cx="2286000" cy="292608"/>
          </a:xfrm>
          <a:prstGeom prst="rect">
            <a:avLst/>
          </a:prstGeom>
          <a:noFill/>
          <a:ln/>
        </p:spPr>
        <p:txBody>
          <a:bodyPr wrap="square" rtlCol="0" anchor="ctr"/>
          <a:lstStyle/>
          <a:p>
            <a:pPr marL="0" indent="0" algn="ctr">
              <a:buNone/>
            </a:pPr>
            <a:r>
              <a:rPr lang="en-US" sz="900" b="1" kern="0" spc="200" dirty="0">
                <a:solidFill>
                  <a:srgbClr val="F5A623"/>
                </a:solidFill>
                <a:latin typeface="Calibri" pitchFamily="34" charset="0"/>
                <a:ea typeface="Calibri" pitchFamily="34" charset="-122"/>
                <a:cs typeface="Calibri" pitchFamily="34" charset="-120"/>
              </a:rPr>
              <a:t>DATA WRANGLING</a:t>
            </a:r>
            <a:endParaRPr lang="en-US" sz="900" dirty="0"/>
          </a:p>
        </p:txBody>
      </p:sp>
      <p:sp>
        <p:nvSpPr>
          <p:cNvPr id="8" name="Text 6"/>
          <p:cNvSpPr/>
          <p:nvPr/>
        </p:nvSpPr>
        <p:spPr>
          <a:xfrm>
            <a:off x="7772400" y="182880"/>
            <a:ext cx="1280160" cy="274320"/>
          </a:xfrm>
          <a:prstGeom prst="rect">
            <a:avLst/>
          </a:prstGeom>
          <a:noFill/>
          <a:ln/>
        </p:spPr>
        <p:txBody>
          <a:bodyPr wrap="square" rtlCol="0" anchor="ctr"/>
          <a:lstStyle/>
          <a:p>
            <a:pPr marL="0" indent="0" algn="r">
              <a:buNone/>
            </a:pPr>
            <a:r>
              <a:rPr lang="en-US" sz="1000" i="1" dirty="0">
                <a:solidFill>
                  <a:srgbClr val="A0AEC0"/>
                </a:solidFill>
                <a:latin typeface="Calibri" pitchFamily="34" charset="0"/>
                <a:ea typeface="Calibri" pitchFamily="34" charset="-122"/>
                <a:cs typeface="Calibri" pitchFamily="34" charset="-120"/>
              </a:rPr>
              <a:t>[2 Marks]</a:t>
            </a:r>
            <a:endParaRPr lang="en-US" sz="1000" dirty="0"/>
          </a:p>
        </p:txBody>
      </p:sp>
      <p:sp>
        <p:nvSpPr>
          <p:cNvPr id="9" name="Text 7"/>
          <p:cNvSpPr/>
          <p:nvPr/>
        </p:nvSpPr>
        <p:spPr>
          <a:xfrm>
            <a:off x="365760" y="914400"/>
            <a:ext cx="8412480" cy="256032"/>
          </a:xfrm>
          <a:prstGeom prst="rect">
            <a:avLst/>
          </a:prstGeom>
          <a:noFill/>
          <a:ln/>
        </p:spPr>
        <p:txBody>
          <a:bodyPr wrap="square"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SHORT ANSWER</a:t>
            </a:r>
            <a:endParaRPr lang="en-US" sz="900" dirty="0"/>
          </a:p>
        </p:txBody>
      </p:sp>
      <p:sp>
        <p:nvSpPr>
          <p:cNvPr id="10" name="Text 8"/>
          <p:cNvSpPr/>
          <p:nvPr/>
        </p:nvSpPr>
        <p:spPr>
          <a:xfrm>
            <a:off x="365760" y="1188720"/>
            <a:ext cx="8412480" cy="9144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Describe any TWO common data-wrangling tasks in Pandas. For each task, name the method used and write a one-line code example.</a:t>
            </a:r>
            <a:endParaRPr lang="en-US" sz="1600" dirty="0"/>
          </a:p>
        </p:txBody>
      </p:sp>
      <p:sp>
        <p:nvSpPr>
          <p:cNvPr id="11" name="Shape 9"/>
          <p:cNvSpPr/>
          <p:nvPr/>
        </p:nvSpPr>
        <p:spPr>
          <a:xfrm>
            <a:off x="365760" y="2331720"/>
            <a:ext cx="8412480" cy="0"/>
          </a:xfrm>
          <a:prstGeom prst="line">
            <a:avLst/>
          </a:prstGeom>
          <a:noFill/>
          <a:ln w="9525">
            <a:solidFill>
              <a:srgbClr val="0F3460"/>
            </a:solidFill>
            <a:prstDash val="solid"/>
          </a:ln>
        </p:spPr>
        <p:txBody>
          <a:bodyPr/>
          <a:lstStyle/>
          <a:p>
            <a:endParaRPr lang="en-IN"/>
          </a:p>
        </p:txBody>
      </p:sp>
      <p:sp>
        <p:nvSpPr>
          <p:cNvPr id="12" name="Shape 10"/>
          <p:cNvSpPr/>
          <p:nvPr/>
        </p:nvSpPr>
        <p:spPr>
          <a:xfrm>
            <a:off x="365760" y="2880360"/>
            <a:ext cx="8412480" cy="0"/>
          </a:xfrm>
          <a:prstGeom prst="line">
            <a:avLst/>
          </a:prstGeom>
          <a:noFill/>
          <a:ln w="9525">
            <a:solidFill>
              <a:srgbClr val="0F3460"/>
            </a:solidFill>
            <a:prstDash val="solid"/>
          </a:ln>
        </p:spPr>
        <p:txBody>
          <a:bodyPr/>
          <a:lstStyle/>
          <a:p>
            <a:endParaRPr lang="en-IN"/>
          </a:p>
        </p:txBody>
      </p:sp>
      <p:sp>
        <p:nvSpPr>
          <p:cNvPr id="13" name="Shape 11"/>
          <p:cNvSpPr/>
          <p:nvPr/>
        </p:nvSpPr>
        <p:spPr>
          <a:xfrm>
            <a:off x="365760" y="3429000"/>
            <a:ext cx="8412480" cy="0"/>
          </a:xfrm>
          <a:prstGeom prst="line">
            <a:avLst/>
          </a:prstGeom>
          <a:noFill/>
          <a:ln w="9525">
            <a:solidFill>
              <a:srgbClr val="0F3460"/>
            </a:solidFill>
            <a:prstDash val="solid"/>
          </a:ln>
        </p:spPr>
        <p:txBody>
          <a:bodyPr/>
          <a:lstStyle/>
          <a:p>
            <a:endParaRPr lang="en-IN"/>
          </a:p>
        </p:txBody>
      </p:sp>
      <p:sp>
        <p:nvSpPr>
          <p:cNvPr id="14" name="Shape 12"/>
          <p:cNvSpPr/>
          <p:nvPr/>
        </p:nvSpPr>
        <p:spPr>
          <a:xfrm>
            <a:off x="365760" y="3977640"/>
            <a:ext cx="8412480" cy="0"/>
          </a:xfrm>
          <a:prstGeom prst="line">
            <a:avLst/>
          </a:prstGeom>
          <a:noFill/>
          <a:ln w="9525">
            <a:solidFill>
              <a:srgbClr val="0F3460"/>
            </a:solidFill>
            <a:prstDash val="solid"/>
          </a:ln>
        </p:spPr>
        <p:txBody>
          <a:bodyPr/>
          <a:lstStyle/>
          <a:p>
            <a:endParaRPr lang="en-IN"/>
          </a:p>
        </p:txBody>
      </p:sp>
      <p:sp>
        <p:nvSpPr>
          <p:cNvPr id="15" name="Shape 13"/>
          <p:cNvSpPr/>
          <p:nvPr/>
        </p:nvSpPr>
        <p:spPr>
          <a:xfrm>
            <a:off x="365760" y="4526280"/>
            <a:ext cx="8412480" cy="0"/>
          </a:xfrm>
          <a:prstGeom prst="line">
            <a:avLst/>
          </a:prstGeom>
          <a:noFill/>
          <a:ln w="9525">
            <a:solidFill>
              <a:srgbClr val="0F3460"/>
            </a:solidFill>
            <a:prstDash val="solid"/>
          </a:ln>
        </p:spPr>
        <p:txBody>
          <a:bodyPr/>
          <a:lstStyle/>
          <a:p>
            <a:endParaRPr lang="en-IN"/>
          </a:p>
        </p:txBody>
      </p:sp>
      <p:sp>
        <p:nvSpPr>
          <p:cNvPr id="16" name="Text 14"/>
          <p:cNvSpPr/>
          <p:nvPr/>
        </p:nvSpPr>
        <p:spPr>
          <a:xfrm>
            <a:off x="448206" y="2574447"/>
            <a:ext cx="7211768" cy="2253319"/>
          </a:xfrm>
          <a:prstGeom prst="rect">
            <a:avLst/>
          </a:prstGeom>
          <a:noFill/>
          <a:ln/>
        </p:spPr>
        <p:txBody>
          <a:bodyPr wrap="square" rtlCol="0" anchor="ctr"/>
          <a:lstStyle/>
          <a:p>
            <a:r>
              <a:rPr lang="en-US" sz="1600" dirty="0">
                <a:solidFill>
                  <a:srgbClr val="A0AEC0"/>
                </a:solidFill>
                <a:latin typeface="Calibri" pitchFamily="34" charset="0"/>
                <a:ea typeface="Calibri" pitchFamily="34" charset="-122"/>
                <a:cs typeface="Calibri" pitchFamily="34" charset="-120"/>
              </a:rPr>
              <a:t>Answer: Two Common Data-Wrangling Tasks in Pandas*Handling missing data uses </a:t>
            </a:r>
            <a:r>
              <a:rPr lang="en-US" sz="1600" dirty="0" err="1">
                <a:solidFill>
                  <a:srgbClr val="A0AEC0"/>
                </a:solidFill>
                <a:latin typeface="Calibri" pitchFamily="34" charset="0"/>
                <a:ea typeface="Calibri" pitchFamily="34" charset="-122"/>
                <a:cs typeface="Calibri" pitchFamily="34" charset="-120"/>
              </a:rPr>
              <a:t>df.dropna</a:t>
            </a:r>
            <a:r>
              <a:rPr lang="en-US" sz="1600" dirty="0">
                <a:solidFill>
                  <a:srgbClr val="A0AEC0"/>
                </a:solidFill>
                <a:latin typeface="Calibri" pitchFamily="34" charset="0"/>
                <a:ea typeface="Calibri" pitchFamily="34" charset="-122"/>
                <a:cs typeface="Calibri" pitchFamily="34" charset="-120"/>
              </a:rPr>
              <a:t>() to remove null values. Filtering data uses conditions like </a:t>
            </a:r>
            <a:r>
              <a:rPr lang="en-US" sz="1600" dirty="0" err="1">
                <a:solidFill>
                  <a:srgbClr val="A0AEC0"/>
                </a:solidFill>
                <a:latin typeface="Calibri" pitchFamily="34" charset="0"/>
                <a:ea typeface="Calibri" pitchFamily="34" charset="-122"/>
                <a:cs typeface="Calibri" pitchFamily="34" charset="-120"/>
              </a:rPr>
              <a:t>df</a:t>
            </a:r>
            <a:r>
              <a:rPr lang="en-US" sz="1600" dirty="0">
                <a:solidFill>
                  <a:srgbClr val="A0AEC0"/>
                </a:solidFill>
                <a:latin typeface="Calibri" pitchFamily="34" charset="0"/>
                <a:ea typeface="Calibri" pitchFamily="34" charset="-122"/>
                <a:cs typeface="Calibri" pitchFamily="34" charset="-120"/>
              </a:rPr>
              <a:t>[</a:t>
            </a:r>
            <a:r>
              <a:rPr lang="en-US" sz="1600" dirty="0" err="1">
                <a:solidFill>
                  <a:srgbClr val="A0AEC0"/>
                </a:solidFill>
                <a:latin typeface="Calibri" pitchFamily="34" charset="0"/>
                <a:ea typeface="Calibri" pitchFamily="34" charset="-122"/>
                <a:cs typeface="Calibri" pitchFamily="34" charset="-120"/>
              </a:rPr>
              <a:t>df</a:t>
            </a:r>
            <a:r>
              <a:rPr lang="en-US" sz="1600" dirty="0">
                <a:solidFill>
                  <a:srgbClr val="A0AEC0"/>
                </a:solidFill>
                <a:latin typeface="Calibri" pitchFamily="34" charset="0"/>
                <a:ea typeface="Calibri" pitchFamily="34" charset="-122"/>
                <a:cs typeface="Calibri" pitchFamily="34" charset="-120"/>
              </a:rPr>
              <a:t>["Score"] &gt; 80] to select specific rows. These tasks help clean and organize data for accurate analysis and better decision-making.</a:t>
            </a: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solidFill>
                <a:srgbClr val="A0AEC0"/>
              </a:solidFill>
              <a:latin typeface="Calibri" pitchFamily="34" charset="0"/>
              <a:ea typeface="Calibri" pitchFamily="34" charset="-122"/>
              <a:cs typeface="Calibri" pitchFamily="34" charset="-120"/>
            </a:endParaRPr>
          </a:p>
          <a:p>
            <a:pPr marL="0" indent="0">
              <a:buNone/>
            </a:pP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txBody>
          <a:bodyPr/>
          <a:lstStyle/>
          <a:p>
            <a:endParaRPr lang="en-IN"/>
          </a:p>
        </p:txBody>
      </p:sp>
      <p:sp>
        <p:nvSpPr>
          <p:cNvPr id="3" name="Shape 1"/>
          <p:cNvSpPr/>
          <p:nvPr/>
        </p:nvSpPr>
        <p:spPr>
          <a:xfrm>
            <a:off x="0" y="2194560"/>
            <a:ext cx="9144000" cy="73152"/>
          </a:xfrm>
          <a:prstGeom prst="rect">
            <a:avLst/>
          </a:prstGeom>
          <a:solidFill>
            <a:srgbClr val="E94560"/>
          </a:solidFill>
          <a:ln/>
        </p:spPr>
        <p:txBody>
          <a:bodyPr/>
          <a:lstStyle/>
          <a:p>
            <a:endParaRPr lang="en-IN"/>
          </a:p>
        </p:txBody>
      </p:sp>
      <p:sp>
        <p:nvSpPr>
          <p:cNvPr id="4" name="Text 2"/>
          <p:cNvSpPr/>
          <p:nvPr/>
        </p:nvSpPr>
        <p:spPr>
          <a:xfrm>
            <a:off x="457200" y="640080"/>
            <a:ext cx="8229600" cy="731520"/>
          </a:xfrm>
          <a:prstGeom prst="rect">
            <a:avLst/>
          </a:prstGeom>
          <a:noFill/>
          <a:ln/>
        </p:spPr>
        <p:txBody>
          <a:bodyPr wrap="square" rtlCol="0" anchor="ctr"/>
          <a:lstStyle/>
          <a:p>
            <a:pPr marL="0" indent="0" algn="ctr">
              <a:buNone/>
            </a:pPr>
            <a:r>
              <a:rPr lang="en-US" sz="4400" b="1" kern="0" spc="800" dirty="0">
                <a:solidFill>
                  <a:srgbClr val="FFFFFF"/>
                </a:solidFill>
                <a:latin typeface="Calibri" pitchFamily="34" charset="0"/>
                <a:ea typeface="Calibri" pitchFamily="34" charset="-122"/>
                <a:cs typeface="Calibri" pitchFamily="34" charset="-120"/>
              </a:rPr>
              <a:t>END OF QUIZ</a:t>
            </a:r>
            <a:endParaRPr lang="en-US" sz="4400" dirty="0"/>
          </a:p>
        </p:txBody>
      </p:sp>
      <p:sp>
        <p:nvSpPr>
          <p:cNvPr id="5" name="Text 3"/>
          <p:cNvSpPr/>
          <p:nvPr/>
        </p:nvSpPr>
        <p:spPr>
          <a:xfrm>
            <a:off x="457200" y="1417320"/>
            <a:ext cx="8229600" cy="411480"/>
          </a:xfrm>
          <a:prstGeom prst="rect">
            <a:avLst/>
          </a:prstGeom>
          <a:noFill/>
          <a:ln/>
        </p:spPr>
        <p:txBody>
          <a:bodyPr wrap="square" rtlCol="0" anchor="ctr"/>
          <a:lstStyle/>
          <a:p>
            <a:pPr marL="0" indent="0" algn="ctr">
              <a:buNone/>
            </a:pPr>
            <a:r>
              <a:rPr lang="en-US" sz="1600" i="1" dirty="0">
                <a:solidFill>
                  <a:srgbClr val="A0AEC0"/>
                </a:solidFill>
                <a:latin typeface="Calibri" pitchFamily="34" charset="0"/>
                <a:ea typeface="Calibri" pitchFamily="34" charset="-122"/>
                <a:cs typeface="Calibri" pitchFamily="34" charset="-120"/>
              </a:rPr>
              <a:t>Please review all answers before submitting.</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371600" y="2468880"/>
          <a:ext cx="6400800" cy="228600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457200">
                <a:tc>
                  <a:txBody>
                    <a:bodyPr/>
                    <a:lstStyle/>
                    <a:p>
                      <a:pPr marL="0" indent="0" algn="ctr">
                        <a:buNone/>
                      </a:pPr>
                      <a:r>
                        <a:rPr lang="en-US" sz="1100" b="1" dirty="0">
                          <a:solidFill>
                            <a:srgbClr val="FFFFFF"/>
                          </a:solidFill>
                        </a:rPr>
                        <a:t>Section</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marL="0" indent="0" algn="ctr">
                        <a:buNone/>
                      </a:pPr>
                      <a:r>
                        <a:rPr lang="en-US" sz="1100" b="1" dirty="0">
                          <a:solidFill>
                            <a:srgbClr val="FFFFFF"/>
                          </a:solidFill>
                        </a:rPr>
                        <a:t>Topic</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marL="0" indent="0" algn="ctr">
                        <a:buNone/>
                      </a:pPr>
                      <a:r>
                        <a:rPr lang="en-US" sz="1100" b="1" dirty="0">
                          <a:solidFill>
                            <a:srgbClr val="FFFFFF"/>
                          </a:solidFill>
                        </a:rPr>
                        <a:t>Questions</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marL="0" indent="0" algn="ctr">
                        <a:buNone/>
                      </a:pPr>
                      <a:r>
                        <a:rPr lang="en-US" sz="1100" b="1" dirty="0">
                          <a:solidFill>
                            <a:srgbClr val="FFFFFF"/>
                          </a:solidFill>
                        </a:rPr>
                        <a:t>Marks</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F0F0F0"/>
                          </a:solidFill>
                        </a:rPr>
                        <a:t>Section 1</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NumPy Arrays &amp; Operations</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Q1–Q5</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5 Marks</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F0F0F0"/>
                          </a:solidFill>
                        </a:rPr>
                        <a:t>Section 2</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Pandas MCQ</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Q6–Q12</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7 Marks</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F0F0F0"/>
                          </a:solidFill>
                        </a:rPr>
                        <a:t>Section 2</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Short Answer</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Q13–Q15</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marL="0" indent="0" algn="ctr">
                        <a:buNone/>
                      </a:pPr>
                      <a:r>
                        <a:rPr lang="en-US" sz="1100" dirty="0">
                          <a:solidFill>
                            <a:srgbClr val="F0F0F0"/>
                          </a:solidFill>
                        </a:rPr>
                        <a:t>6 Marks</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extLst>
                  <a:ext uri="{0D108BD9-81ED-4DB2-BD59-A6C34878D82A}">
                    <a16:rowId xmlns:a16="http://schemas.microsoft.com/office/drawing/2014/main" val="10003"/>
                  </a:ext>
                </a:extLst>
              </a:tr>
              <a:tr h="457200">
                <a:tc>
                  <a:txBody>
                    <a:bodyPr/>
                    <a:lstStyle/>
                    <a:p>
                      <a:pPr marL="0" indent="0" algn="ctr">
                        <a:buNone/>
                      </a:pP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marL="0" indent="0" algn="ctr">
                        <a:buNone/>
                      </a:pPr>
                      <a:r>
                        <a:rPr lang="en-US" sz="1100" b="1" dirty="0">
                          <a:solidFill>
                            <a:srgbClr val="F5A623"/>
                          </a:solidFill>
                        </a:rPr>
                        <a:t>TOTAL</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marL="0" indent="0" algn="ctr">
                        <a:buNone/>
                      </a:pP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marL="0" indent="0" algn="ctr">
                        <a:buNone/>
                      </a:pPr>
                      <a:r>
                        <a:rPr lang="en-US" sz="1100" b="1" dirty="0">
                          <a:solidFill>
                            <a:srgbClr val="F5A623"/>
                          </a:solidFill>
                        </a:rPr>
                        <a:t>30 Marks</a:t>
                      </a:r>
                      <a:endParaRPr lang="en-US" sz="1100" dirty="0"/>
                    </a:p>
                  </a:txBody>
                  <a:tcP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1153</Words>
  <Application>Microsoft Office PowerPoint</Application>
  <PresentationFormat>On-screen Show (16:9)</PresentationFormat>
  <Paragraphs>255</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NumPy &amp; Pandas Quiz</dc:title>
  <dc:subject>PptxGenJS Presentation</dc:subject>
  <dc:creator>PptxGenJS</dc:creator>
  <cp:lastModifiedBy>Ankit Raj</cp:lastModifiedBy>
  <cp:revision>2</cp:revision>
  <dcterms:created xsi:type="dcterms:W3CDTF">2026-02-22T18:36:13Z</dcterms:created>
  <dcterms:modified xsi:type="dcterms:W3CDTF">2026-02-23T09:16:48Z</dcterms:modified>
</cp:coreProperties>
</file>